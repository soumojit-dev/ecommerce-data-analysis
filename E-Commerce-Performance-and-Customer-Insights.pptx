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94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68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E-Commerce Performance &amp; Customer Insights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41009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Analytics Internship Project — A comprehensive deep-dive into revenue performance, delivery efficiency, and customer satisfaction drivers.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44847"/>
            <a:ext cx="143601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3898" y="5520452"/>
            <a:ext cx="11485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7330D0-9F1E-59CC-E078-0030E943CD86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DB8BD9-B97D-968E-636A-13D873D52687}"/>
              </a:ext>
            </a:extLst>
          </p:cNvPr>
          <p:cNvSpPr/>
          <p:nvPr/>
        </p:nvSpPr>
        <p:spPr>
          <a:xfrm>
            <a:off x="7196417" y="39301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1BC46-BAA9-5F66-ED39-7E353A544CEB}"/>
              </a:ext>
            </a:extLst>
          </p:cNvPr>
          <p:cNvSpPr/>
          <p:nvPr/>
        </p:nvSpPr>
        <p:spPr>
          <a:xfrm>
            <a:off x="7196417" y="39301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6EED7-BAFB-D1E5-6738-094FC570D328}"/>
              </a:ext>
            </a:extLst>
          </p:cNvPr>
          <p:cNvSpPr/>
          <p:nvPr/>
        </p:nvSpPr>
        <p:spPr>
          <a:xfrm>
            <a:off x="7196417" y="39301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 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0FF8499-20FC-59BD-5DC2-6F172EF660FF}"/>
              </a:ext>
            </a:extLst>
          </p:cNvPr>
          <p:cNvSpPr/>
          <p:nvPr/>
        </p:nvSpPr>
        <p:spPr>
          <a:xfrm>
            <a:off x="7868603" y="5444847"/>
            <a:ext cx="2293969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590E57F-5528-471C-D81A-510F0B689E3D}"/>
              </a:ext>
            </a:extLst>
          </p:cNvPr>
          <p:cNvSpPr/>
          <p:nvPr/>
        </p:nvSpPr>
        <p:spPr>
          <a:xfrm>
            <a:off x="8012311" y="5535428"/>
            <a:ext cx="2034514" cy="27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Soumojit Maitra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2716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Objectives</a:t>
            </a:r>
            <a:endParaRPr lang="en-US" sz="4200" b="1" dirty="0"/>
          </a:p>
        </p:txBody>
      </p:sp>
      <p:sp>
        <p:nvSpPr>
          <p:cNvPr id="4" name="Shape 1"/>
          <p:cNvSpPr/>
          <p:nvPr/>
        </p:nvSpPr>
        <p:spPr>
          <a:xfrm>
            <a:off x="793790" y="1753195"/>
            <a:ext cx="3675817" cy="3085624"/>
          </a:xfrm>
          <a:prstGeom prst="roundRect">
            <a:avLst>
              <a:gd name="adj" fmla="val 1048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1009174" y="196857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934" y="2146221"/>
            <a:ext cx="290870" cy="2908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174" y="28196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Performance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09174" y="3278981"/>
            <a:ext cx="324504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Analyze revenue performance and uncover key business trends across product categories and time periods.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4674275" y="1753195"/>
            <a:ext cx="3675936" cy="3085624"/>
          </a:xfrm>
          <a:prstGeom prst="roundRect">
            <a:avLst>
              <a:gd name="adj" fmla="val 1048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4889659" y="1968579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7419" y="2146221"/>
            <a:ext cx="290870" cy="2908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9659" y="28196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Delivery Efficiency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4889659" y="3278981"/>
            <a:ext cx="324516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end-to-end delivery performance, identify bottlenecks, and measure the rate of late deliveries.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793790" y="5043488"/>
            <a:ext cx="7556421" cy="2413397"/>
          </a:xfrm>
          <a:prstGeom prst="roundRect">
            <a:avLst>
              <a:gd name="adj" fmla="val 1339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09174" y="5258872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2150F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6934" y="5436513"/>
            <a:ext cx="290870" cy="29087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9174" y="610993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Satisfaction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009174" y="6569273"/>
            <a:ext cx="71256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 the key drivers behind customer satisfaction scores and their relationship to operational metrics.</a:t>
            </a:r>
            <a:endParaRPr lang="en-US" sz="16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8726B5-A551-4BF1-9A84-88F41744B0E7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334" y="760333"/>
            <a:ext cx="5466874" cy="68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Overview</a:t>
            </a:r>
            <a:endParaRPr lang="en-US" sz="4300" b="1" dirty="0"/>
          </a:p>
        </p:txBody>
      </p:sp>
      <p:sp>
        <p:nvSpPr>
          <p:cNvPr id="3" name="Shape 1"/>
          <p:cNvSpPr/>
          <p:nvPr/>
        </p:nvSpPr>
        <p:spPr>
          <a:xfrm>
            <a:off x="607933" y="1759863"/>
            <a:ext cx="5916216" cy="5709285"/>
          </a:xfrm>
          <a:prstGeom prst="roundRect">
            <a:avLst>
              <a:gd name="adj" fmla="val 575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826532" y="1970603"/>
            <a:ext cx="3515439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Integrated Multi-Table Dataset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26532" y="2523053"/>
            <a:ext cx="5479018" cy="1030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unified master dataset was engineered by joining multiple relational tables to enable end-to-end analysis across the entire customer journey.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6532" y="3743563"/>
            <a:ext cx="5479018" cy="201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Orders &amp; order items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profiles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 catalog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 records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&amp; rating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07768" y="1970603"/>
            <a:ext cx="2733437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Architecture</a:t>
            </a:r>
            <a:endParaRPr lang="en-US" sz="2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768" y="2549366"/>
            <a:ext cx="6964799" cy="38058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26198" y="4332625"/>
            <a:ext cx="1613795" cy="2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Raw Tables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901305" y="4307863"/>
            <a:ext cx="1613794" cy="2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Integration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910591" y="4315792"/>
            <a:ext cx="1613795" cy="2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Analysis Ready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07768" y="6592253"/>
            <a:ext cx="6964799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master dataset enabled seamless cross-functional analysis, connecting logistics, finance, and customer experience in a single view.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A8A7FD-2FCF-A66D-FB4B-BCD125EC6B9B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1293"/>
            <a:ext cx="617184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Performance Indicators</a:t>
            </a:r>
            <a:endParaRPr lang="en-US" sz="4200" b="1" dirty="0"/>
          </a:p>
        </p:txBody>
      </p:sp>
      <p:sp>
        <p:nvSpPr>
          <p:cNvPr id="3" name="Text 1"/>
          <p:cNvSpPr/>
          <p:nvPr/>
        </p:nvSpPr>
        <p:spPr>
          <a:xfrm>
            <a:off x="870466" y="2011680"/>
            <a:ext cx="2915245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$16.64M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981313" y="298382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Revenue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93790" y="3443168"/>
            <a:ext cx="3068717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revenue generated across all orders in the dataset period.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195048" y="2011680"/>
            <a:ext cx="2915364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98,666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4306014" y="298382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Orders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18372" y="3443168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number of orders processed and fulfilled across all regions.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19749" y="2011680"/>
            <a:ext cx="2915364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$168.64</a:t>
            </a:r>
            <a:endParaRPr lang="en-US" sz="5550" dirty="0"/>
          </a:p>
        </p:txBody>
      </p:sp>
      <p:sp>
        <p:nvSpPr>
          <p:cNvPr id="10" name="Text 8"/>
          <p:cNvSpPr/>
          <p:nvPr/>
        </p:nvSpPr>
        <p:spPr>
          <a:xfrm>
            <a:off x="7630716" y="298382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 Order Value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43073" y="3443168"/>
            <a:ext cx="306883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revenue generated per individual customer order.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844451" y="2011680"/>
            <a:ext cx="2915364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~12</a:t>
            </a:r>
            <a:endParaRPr lang="en-US" sz="5550" dirty="0"/>
          </a:p>
        </p:txBody>
      </p:sp>
      <p:sp>
        <p:nvSpPr>
          <p:cNvPr id="13" name="Text 11"/>
          <p:cNvSpPr/>
          <p:nvPr/>
        </p:nvSpPr>
        <p:spPr>
          <a:xfrm>
            <a:off x="10955417" y="298382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 Delivery Days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67774" y="3443168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number of days from order placement to customer delivery.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195048" y="4968478"/>
            <a:ext cx="2915364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~8%</a:t>
            </a:r>
            <a:endParaRPr lang="en-US" sz="5550" dirty="0"/>
          </a:p>
        </p:txBody>
      </p:sp>
      <p:sp>
        <p:nvSpPr>
          <p:cNvPr id="16" name="Text 14"/>
          <p:cNvSpPr/>
          <p:nvPr/>
        </p:nvSpPr>
        <p:spPr>
          <a:xfrm>
            <a:off x="4306014" y="59406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Late Delivery Rate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18372" y="6399967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Percentage of orders that were delivered past the estimated delivery date.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19749" y="4968478"/>
            <a:ext cx="2915364" cy="71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4.0</a:t>
            </a:r>
            <a:endParaRPr lang="en-US" sz="5550" dirty="0"/>
          </a:p>
        </p:txBody>
      </p:sp>
      <p:sp>
        <p:nvSpPr>
          <p:cNvPr id="19" name="Text 17"/>
          <p:cNvSpPr/>
          <p:nvPr/>
        </p:nvSpPr>
        <p:spPr>
          <a:xfrm>
            <a:off x="7630716" y="594062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 Customer Rating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443073" y="6399967"/>
            <a:ext cx="3068836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review score out of 5 submitted by customers post-delivery.</a:t>
            </a:r>
            <a:endParaRPr lang="en-US" sz="16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A6B703-343A-EE2F-288D-02E364B36B2F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5084683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Dashboard Overview</a:t>
            </a:r>
            <a:endParaRPr lang="en-US" sz="4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659" y="1621631"/>
            <a:ext cx="11698962" cy="59897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6D6142-F42A-1220-56BF-FD6F02F3EF5B}"/>
              </a:ext>
            </a:extLst>
          </p:cNvPr>
          <p:cNvSpPr/>
          <p:nvPr/>
        </p:nvSpPr>
        <p:spPr>
          <a:xfrm>
            <a:off x="12824749" y="7611427"/>
            <a:ext cx="1805651" cy="61817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9722"/>
            <a:ext cx="9667994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Deep-Dive: Delivery vs. Customer Satisfaction</a:t>
            </a:r>
            <a:endParaRPr lang="en-US" sz="4000" b="1" dirty="0"/>
          </a:p>
        </p:txBody>
      </p:sp>
      <p:sp>
        <p:nvSpPr>
          <p:cNvPr id="3" name="Shape 1"/>
          <p:cNvSpPr/>
          <p:nvPr/>
        </p:nvSpPr>
        <p:spPr>
          <a:xfrm>
            <a:off x="644485" y="1538764"/>
            <a:ext cx="5214461" cy="6060996"/>
          </a:xfrm>
          <a:prstGeom prst="roundRect">
            <a:avLst>
              <a:gd name="adj" fmla="val 585"/>
            </a:avLst>
          </a:prstGeom>
          <a:solidFill>
            <a:srgbClr val="2150FE"/>
          </a:solidFill>
          <a:ln/>
        </p:spPr>
      </p:sp>
      <p:sp>
        <p:nvSpPr>
          <p:cNvPr id="4" name="Text 2"/>
          <p:cNvSpPr/>
          <p:nvPr/>
        </p:nvSpPr>
        <p:spPr>
          <a:xfrm>
            <a:off x="847844" y="1721048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Correlation Finding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47844" y="2220992"/>
            <a:ext cx="4807744" cy="92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statistically meaningful </a:t>
            </a: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negative correlation of ~-0.30</a:t>
            </a: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was identified between delivery time and customer review scores.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7844" y="3453297"/>
            <a:ext cx="4807744" cy="329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47844" y="3691414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7844" y="4191357"/>
            <a:ext cx="4807744" cy="123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 delivery time increases, customer satisfaction scores decline. Late deliveries lead to measurably lower ratings, confirming that </a:t>
            </a: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delivery time is a critical experience driver</a:t>
            </a:r>
            <a:r>
              <a:rPr lang="en-US" sz="16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7844" y="5732153"/>
            <a:ext cx="4807744" cy="3298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7844" y="5970270"/>
            <a:ext cx="4807744" cy="1424345"/>
          </a:xfrm>
          <a:prstGeom prst="roundRect">
            <a:avLst>
              <a:gd name="adj" fmla="val 2142"/>
            </a:avLst>
          </a:prstGeom>
          <a:solidFill>
            <a:srgbClr val="B3C3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03" y="6259830"/>
            <a:ext cx="254198" cy="2033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6203394"/>
            <a:ext cx="3943469" cy="92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Correlation coefficient: </a:t>
            </a:r>
            <a:r>
              <a:rPr lang="en-US" sz="1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 ≈ -0.30</a:t>
            </a: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moderate negative relationship confirmed across the full dataset.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848" y="1743908"/>
            <a:ext cx="6867525" cy="34370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8817" y="3221482"/>
            <a:ext cx="1289768" cy="3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More Negative Reviews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261308" y="4888363"/>
            <a:ext cx="1543606" cy="19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Low On-Time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137776" y="3221482"/>
            <a:ext cx="1289769" cy="38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More Positive Reviews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257450" y="1884977"/>
            <a:ext cx="1543606" cy="19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On-Time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22308" y="4132532"/>
            <a:ext cx="1324071" cy="29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Customers — Loyal Promoters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7991" y="3708790"/>
            <a:ext cx="192093" cy="1920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40333" y="4139392"/>
            <a:ext cx="1324071" cy="29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Churn — Lost Accounts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06321" y="3712864"/>
            <a:ext cx="192093" cy="1920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40333" y="2870205"/>
            <a:ext cx="1324071" cy="29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Delayed Delivery — Low Satisfaction &amp; Reviews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06321" y="2443676"/>
            <a:ext cx="192093" cy="1920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81145" y="2870205"/>
            <a:ext cx="1324071" cy="29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Delivery — High Satisfaction &amp; Reviews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47133" y="2443676"/>
            <a:ext cx="192093" cy="19209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6372" y="5386149"/>
            <a:ext cx="7630597" cy="925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analysis clearly demonstrates that logistics performance is not just an operational metric — it is a direct lever for customer experience and long-term retention.</a:t>
            </a: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0DD12F-B91D-9621-FB75-CC2215DC5741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438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Statistical Validation</a:t>
            </a:r>
            <a:endParaRPr lang="en-US" sz="3550" b="1" dirty="0"/>
          </a:p>
        </p:txBody>
      </p:sp>
      <p:sp>
        <p:nvSpPr>
          <p:cNvPr id="4" name="Text 1"/>
          <p:cNvSpPr/>
          <p:nvPr/>
        </p:nvSpPr>
        <p:spPr>
          <a:xfrm>
            <a:off x="6280190" y="1694140"/>
            <a:ext cx="256805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Two-Sample T-Test Results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122765"/>
            <a:ext cx="3956804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rigorously validate the observed difference in customer review scores between on-time and late deliveries, a two-sample t-test was performed on the full dataset.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80190" y="3330893"/>
            <a:ext cx="3956804" cy="1052751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461641" y="35123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 Type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61641" y="3940969"/>
            <a:ext cx="359390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Two-Sample T-Test on review scores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0190" y="4528780"/>
            <a:ext cx="3956804" cy="1313974"/>
          </a:xfrm>
          <a:prstGeom prst="roundRect">
            <a:avLst>
              <a:gd name="adj" fmla="val 2072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461641" y="47102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T-Statistic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461641" y="5138857"/>
            <a:ext cx="3593902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92.22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extremely large, indicating a strong signal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80190" y="5987891"/>
            <a:ext cx="3956804" cy="1313974"/>
          </a:xfrm>
          <a:prstGeom prst="roundRect">
            <a:avLst>
              <a:gd name="adj" fmla="val 2072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61641" y="616934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P-Value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61641" y="6597968"/>
            <a:ext cx="3593902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&lt; 0.001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far below the 0.05 significance threshold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59465" y="1712238"/>
            <a:ext cx="2884646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difference in customer satisfaction scores between on-time and late deliveries is </a:t>
            </a:r>
            <a:r>
              <a:rPr lang="en-US" sz="14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statistically significant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this is not a random variation. It is a real, measurable business phenomenon.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687288" y="1712238"/>
            <a:ext cx="22860" cy="1567339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4"/>
          <p:cNvSpPr/>
          <p:nvPr/>
        </p:nvSpPr>
        <p:spPr>
          <a:xfrm>
            <a:off x="10687288" y="3442811"/>
            <a:ext cx="3156823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a p-value well below 0.001 and a t-statistic of 92.22, the null hypothesis is decisively rejected. The data confirms that delivery timing has a genuine, significant impact on how customers rate their experience.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CE9CF-9CA8-3EB6-3617-120D6D9C3C88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2365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Impact</a:t>
            </a:r>
            <a:endParaRPr lang="en-US" sz="4000" b="1" dirty="0"/>
          </a:p>
        </p:txBody>
      </p:sp>
      <p:sp>
        <p:nvSpPr>
          <p:cNvPr id="4" name="Shape 1"/>
          <p:cNvSpPr/>
          <p:nvPr/>
        </p:nvSpPr>
        <p:spPr>
          <a:xfrm>
            <a:off x="997863" y="2041922"/>
            <a:ext cx="204073" cy="1461730"/>
          </a:xfrm>
          <a:prstGeom prst="roundRect">
            <a:avLst>
              <a:gd name="adj" fmla="val 15005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907977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F2EEE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904" y="2061091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89842" y="1939885"/>
            <a:ext cx="375654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Delivery Delays Reduce Satisfaction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589842" y="2368868"/>
            <a:ext cx="6760369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Late deliveries directly suppress customer review scores, creating a measurable gap in perceived service quality between on-time and delayed orders.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303973" y="3993594"/>
            <a:ext cx="204073" cy="1461730"/>
          </a:xfrm>
          <a:prstGeom prst="roundRect">
            <a:avLst>
              <a:gd name="adj" fmla="val 15005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1099899" y="3859649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F2EEE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3014" y="4012763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5951" y="3891558"/>
            <a:ext cx="358973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Risk to Retention &amp; Repeat Orders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895951" y="4320540"/>
            <a:ext cx="6454259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Poor delivery experiences may discourage customers from returning, threatening repeat purchase rates and long-term customer lifetime value.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1610201" y="5945267"/>
            <a:ext cx="204073" cy="1461730"/>
          </a:xfrm>
          <a:prstGeom prst="roundRect">
            <a:avLst>
              <a:gd name="adj" fmla="val 15005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406128" y="5811322"/>
            <a:ext cx="612338" cy="612338"/>
          </a:xfrm>
          <a:prstGeom prst="roundRect">
            <a:avLst>
              <a:gd name="adj" fmla="val 74665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9243" y="5964436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02180" y="5843230"/>
            <a:ext cx="346841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Logistics Optimization is Critical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2202180" y="6272212"/>
            <a:ext cx="6148030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Improving logistics performance is not just an operational goal — it is a strategic business priority with direct impact on revenue, retention, and brand reputation.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2B0D87-9140-9D55-C059-E101ED906B45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946"/>
            <a:ext cx="627066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Recommendations</a:t>
            </a:r>
            <a:endParaRPr lang="en-US" sz="4200" b="1" dirty="0"/>
          </a:p>
        </p:txBody>
      </p:sp>
      <p:sp>
        <p:nvSpPr>
          <p:cNvPr id="3" name="Shape 1"/>
          <p:cNvSpPr/>
          <p:nvPr/>
        </p:nvSpPr>
        <p:spPr>
          <a:xfrm>
            <a:off x="793790" y="1790700"/>
            <a:ext cx="6419017" cy="2595086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1821180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1671" y="1982748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9654" y="2672239"/>
            <a:ext cx="298549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Target High-Delay Regions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39654" y="3131582"/>
            <a:ext cx="592728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geographic regions with the highest late delivery rates and prioritize logistics improvements, carrier partnerships, or fulfillment center expansion in those areas.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7475" y="1790700"/>
            <a:ext cx="6419136" cy="2595086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47955" y="1821180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5475" y="1982748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3339" y="2672239"/>
            <a:ext cx="393418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Actively Reduce Late Delivery Rates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63339" y="3131582"/>
            <a:ext cx="5927407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 measurable KPI targets for late delivery reduction. Implement real-time tracking, proactive customer communication, and SLA enforcement with logistics partners.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93790" y="4590455"/>
            <a:ext cx="6419017" cy="2931200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270" y="4620935"/>
            <a:ext cx="6358057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1671" y="4782503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9654" y="5471993"/>
            <a:ext cx="377332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 Heavy Product Shipping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039654" y="5931337"/>
            <a:ext cx="592728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Heavy and bulky products are disproportionately prone to delays. Develop specialized logistics workflows and carrier agreements for this product segment.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17475" y="4590455"/>
            <a:ext cx="6419136" cy="2931200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47955" y="4620935"/>
            <a:ext cx="6358176" cy="64639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5475" y="4782503"/>
            <a:ext cx="323136" cy="3231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3339" y="5471993"/>
            <a:ext cx="339685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Invest in Customer Experience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63339" y="5931337"/>
            <a:ext cx="5927407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investments on the key touchpoints that drive satisfaction — from post-purchase communication to delivery confirmation — to build loyalty and encourage repeat purchases.</a:t>
            </a:r>
            <a:endParaRPr lang="en-US" sz="1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52B9AF-5FE4-EE9C-F5C3-8890C222F06B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5930" y="784622"/>
            <a:ext cx="4710946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3700" b="1" dirty="0"/>
          </a:p>
        </p:txBody>
      </p:sp>
      <p:sp>
        <p:nvSpPr>
          <p:cNvPr id="4" name="Shape 1"/>
          <p:cNvSpPr/>
          <p:nvPr/>
        </p:nvSpPr>
        <p:spPr>
          <a:xfrm>
            <a:off x="775930" y="1784390"/>
            <a:ext cx="423982" cy="42398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356360" y="1849160"/>
            <a:ext cx="2818090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Strong Revenue Performance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56360" y="2299930"/>
            <a:ext cx="3790950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business demonstrates strong overall revenue performance with $16.64M in total revenue and nearly 100K orders, reflecting healthy demand and market presence.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5930" y="3716893"/>
            <a:ext cx="423982" cy="42398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356360" y="3781663"/>
            <a:ext cx="2693670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Delivery Drives Satisfaction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356360" y="4232434"/>
            <a:ext cx="3790950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Delivery efficiency is the single most impactful operational lever for customer satisfaction. The statistical evidence is clear and actionable.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5930" y="5649397"/>
            <a:ext cx="423982" cy="42398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356360" y="5714167"/>
            <a:ext cx="2907744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Data-Driven Decision Making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356360" y="6164937"/>
            <a:ext cx="3790950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insights generated through this analysis empower the business to make smarter, faster, and more confident decisions — turning raw data into competitive advantage.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78899" y="1608296"/>
            <a:ext cx="3032284" cy="5836682"/>
          </a:xfrm>
          <a:prstGeom prst="roundRect">
            <a:avLst>
              <a:gd name="adj" fmla="val 932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5667256" y="1764744"/>
            <a:ext cx="235541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Takeaway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667256" y="2215515"/>
            <a:ext cx="2655570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excellence in logistics is not just a cost center — it is a </a:t>
            </a:r>
            <a:r>
              <a:rPr lang="en-US" sz="14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and retention engine</a:t>
            </a: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7256" y="3589696"/>
            <a:ext cx="2655570" cy="310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667256" y="3796784"/>
            <a:ext cx="2655570" cy="1655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acting on these data-driven insights, the business can unlock higher satisfaction scores, stronger customer loyalty, and sustained revenue growth.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667256" y="5722939"/>
            <a:ext cx="2655570" cy="310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667256" y="5930027"/>
            <a:ext cx="1016437" cy="348853"/>
          </a:xfrm>
          <a:prstGeom prst="roundRect">
            <a:avLst>
              <a:gd name="adj" fmla="val 648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7866" y="5994083"/>
            <a:ext cx="775216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777871" y="5930027"/>
            <a:ext cx="1474351" cy="348853"/>
          </a:xfrm>
          <a:prstGeom prst="roundRect">
            <a:avLst>
              <a:gd name="adj" fmla="val 6482"/>
            </a:avLst>
          </a:prstGeom>
          <a:noFill/>
          <a:ln w="7620">
            <a:solidFill>
              <a:srgbClr val="2150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98481" y="5994083"/>
            <a:ext cx="1233130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INTERNSHIP 2024</a:t>
            </a:r>
            <a:endParaRPr lang="en-US" sz="11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F24D5D-57C9-43D6-0E24-559EF2A265D2}"/>
              </a:ext>
            </a:extLst>
          </p:cNvPr>
          <p:cNvSpPr/>
          <p:nvPr/>
        </p:nvSpPr>
        <p:spPr>
          <a:xfrm>
            <a:off x="12651129" y="7407797"/>
            <a:ext cx="1979271" cy="8218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70DC7A9-AE29-4806-920E-1A30BFD79031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0C3016A-006C-47E0-B3D9-4B78BFBEC546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854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Crimson Pro Semi Bold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Soumojit Maitra</cp:lastModifiedBy>
  <cp:revision>2</cp:revision>
  <dcterms:created xsi:type="dcterms:W3CDTF">2026-03-30T07:21:52Z</dcterms:created>
  <dcterms:modified xsi:type="dcterms:W3CDTF">2026-03-30T07:34:30Z</dcterms:modified>
</cp:coreProperties>
</file>